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274320"/>
            <a:ext cx="3108960" cy="3108960"/>
          </a:xfrm>
          <a:prstGeom prst="ellipse">
            <a:avLst/>
          </a:prstGeom>
          <a:solidFill>
            <a:srgbClr val="1D3E5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508760"/>
            <a:ext cx="2103120" cy="2103120"/>
          </a:xfrm>
          <a:prstGeom prst="ellipse">
            <a:avLst/>
          </a:prstGeom>
          <a:solidFill>
            <a:srgbClr val="215B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3977640"/>
            <a:ext cx="2651760" cy="2651760"/>
          </a:xfrm>
          <a:prstGeom prst="ellipse">
            <a:avLst/>
          </a:prstGeom>
          <a:solidFill>
            <a:srgbClr val="2030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400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DE1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ПРАКТИЧЕСКАЯ РАБОТА №2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" y="1307592"/>
            <a:ext cx="941832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«грязного» CSV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 аналитическим выводам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740664" y="3575304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F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•  товары, клиенты и качество данных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4297680"/>
            <a:ext cx="7470648" cy="0"/>
          </a:xfrm>
          <a:prstGeom prst="line">
            <a:avLst/>
          </a:prstGeom>
          <a:noFill/>
          <a:ln w="15240">
            <a:solidFill>
              <a:srgbClr val="3C596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40664" y="4654296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541 909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40664" y="514807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F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строк источника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4654296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4 338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264408" y="514807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F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клиентов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88152" y="4654296"/>
            <a:ext cx="2423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18 532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788152" y="514807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FD2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заказов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34593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E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Взгляд аналитика: метрики + допущения + качество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/  PRACTICE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0816" y="21945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694944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мы получили из исходных транзакций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1082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Два результата практической: рейтинг товаров и клиентские показатели.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92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21208" y="656539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data.csv • Показатели валовых положительных продаж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0" y="6556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ОБЗОР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1865376"/>
            <a:ext cx="3511296" cy="1664208"/>
          </a:xfrm>
          <a:prstGeom prst="roundRect">
            <a:avLst>
              <a:gd name="adj" fmla="val 9341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865376"/>
            <a:ext cx="64008" cy="166420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103120"/>
            <a:ext cx="3090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СТРОК ИСТОЧНИКА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" y="24048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541 909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8096" y="2980944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Полный исходный файл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4334256" y="1865376"/>
            <a:ext cx="3511296" cy="1664208"/>
          </a:xfrm>
          <a:prstGeom prst="roundRect">
            <a:avLst>
              <a:gd name="adj" fmla="val 9341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865376"/>
            <a:ext cx="64008" cy="166420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2103120"/>
            <a:ext cx="3090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ПОЛОЖИТЕЛЬНЫХ СТРОК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62856" y="24048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530 104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0" y="2980944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согласованным фильтрам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8138160" y="1865376"/>
            <a:ext cx="3511296" cy="1664208"/>
          </a:xfrm>
          <a:prstGeom prst="roundRect">
            <a:avLst>
              <a:gd name="adj" fmla="val 9341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865376"/>
            <a:ext cx="64008" cy="166420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103120"/>
            <a:ext cx="3090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СТРОК С CUSTOMERID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24048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397 884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375904" y="2980944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Основа клиентских метрик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30352" y="3840480"/>
            <a:ext cx="11119104" cy="213969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123944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ОТДАНО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" y="4507992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top_5_products.csv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0392" y="4892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Топ-5 StockCode по сумме Quantity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52744" y="4251960"/>
            <a:ext cx="0" cy="1325880"/>
          </a:xfrm>
          <a:prstGeom prst="line">
            <a:avLst/>
          </a:prstGeom>
          <a:noFill/>
          <a:ln w="1524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6272784" y="4507992"/>
            <a:ext cx="4864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customer_metrics.csv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291072" y="48920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OrderCount, TotalSpent, AverageOrderValue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77072" y="5641848"/>
            <a:ext cx="2697480" cy="283464"/>
          </a:xfrm>
          <a:prstGeom prst="roundRect">
            <a:avLst>
              <a:gd name="adj" fmla="val 38710"/>
            </a:avLst>
          </a:prstGeom>
          <a:solidFill>
            <a:srgbClr val="E7F9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5682996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Общие правила + QA-проверки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/  PRACTICE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0816" y="21945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694944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Сначала изучаем качество данных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1082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 нельзя агрегировать без проверки возвратов, пропусков и идентификаторов.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92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21208" y="656539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data.csv • Показатели валовых положительных продаж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0" y="6556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9496" y="1883664"/>
            <a:ext cx="3511296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76272"/>
            <a:ext cx="29352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1A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24,9%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86384" y="290779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пропущен CustomerID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333756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135 080 строк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" y="3739896"/>
            <a:ext cx="2916936" cy="82296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739896"/>
            <a:ext cx="727192" cy="82296"/>
          </a:xfrm>
          <a:prstGeom prst="roundRect">
            <a:avLst>
              <a:gd name="adj" fmla="val 22222"/>
            </a:avLst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883664"/>
            <a:ext cx="3511296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176272"/>
            <a:ext cx="29352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C85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2,18%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4581144" y="290779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являются продажами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81144" y="333756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11 805 строк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81144" y="3739896"/>
            <a:ext cx="2916936" cy="82296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3739896"/>
            <a:ext cx="63589" cy="82296"/>
          </a:xfrm>
          <a:prstGeom prst="roundRect">
            <a:avLst>
              <a:gd name="adj" fmla="val 28760"/>
            </a:avLst>
          </a:prstGeom>
          <a:solidFill>
            <a:srgbClr val="C85C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883664"/>
            <a:ext cx="3511296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2176272"/>
            <a:ext cx="29352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217</a:t>
            </a:r>
            <a:endParaRPr lang="en-US" sz="3100" dirty="0"/>
          </a:p>
        </p:txBody>
      </p:sp>
      <p:sp>
        <p:nvSpPr>
          <p:cNvPr id="24" name="Text 22"/>
          <p:cNvSpPr/>
          <p:nvPr/>
        </p:nvSpPr>
        <p:spPr>
          <a:xfrm>
            <a:off x="8385048" y="2907792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товаров с разными описаниями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85048" y="3337560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одному StockCode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85048" y="3739896"/>
            <a:ext cx="2916936" cy="82296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4443984"/>
            <a:ext cx="11109960" cy="1472184"/>
          </a:xfrm>
          <a:prstGeom prst="roundRect">
            <a:avLst>
              <a:gd name="adj" fmla="val 9938"/>
            </a:avLst>
          </a:prstGeom>
          <a:solidFill>
            <a:srgbClr val="1724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" y="4681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это важно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749040" y="4645152"/>
            <a:ext cx="7269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Пустой CustomerID ≠ несуществующая продажа.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Возврат ≠ новая продажа. Описание ≠ идентификатор товара.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03504" y="6135624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Причины исключения могут пересекаться — их нельзя суммировать как независимые ошибки.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/  PRACTICE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0816" y="21945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694944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Метрика начинается с определения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1082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Одна и та же таблица даёт разные ответы при разных трактовках возвратов.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92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21208" y="656539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data.csv • Показатели валовых положительных продаж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0" y="6556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БИЗНЕС-ПРАВИЛА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1208" y="1892808"/>
            <a:ext cx="5376672" cy="395020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892808"/>
            <a:ext cx="5468112" cy="395020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240280"/>
            <a:ext cx="2057400" cy="283464"/>
          </a:xfrm>
          <a:prstGeom prst="roundRect">
            <a:avLst>
              <a:gd name="adj" fmla="val 38710"/>
            </a:avLst>
          </a:prstGeom>
          <a:solidFill>
            <a:srgbClr val="E7F9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281428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ПОПУЛЯРНОСТЬ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2240280"/>
            <a:ext cx="2212848" cy="283464"/>
          </a:xfrm>
          <a:prstGeom prst="roundRect">
            <a:avLst>
              <a:gd name="adj" fmla="val 38710"/>
            </a:avLst>
          </a:prstGeom>
          <a:solidFill>
            <a:srgbClr val="E7F9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22814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КЛИЕНТСКИЕ KPI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761488"/>
            <a:ext cx="4773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StockCode → Σ Quantity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2960" y="3456432"/>
            <a:ext cx="91440" cy="91440"/>
          </a:xfrm>
          <a:prstGeom prst="ellipse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337560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Группировка по коду товара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822960" y="4023360"/>
            <a:ext cx="91440" cy="91440"/>
          </a:xfrm>
          <a:prstGeom prst="ellipse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904488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Сортировка по количеству ↓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822960" y="4590288"/>
            <a:ext cx="91440" cy="91440"/>
          </a:xfrm>
          <a:prstGeom prst="ellipse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4471416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CustomerID может отсутствовать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6510528" y="27706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OrderTotal = Σ(Quantity × UnitPrice)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01384" y="3465576"/>
            <a:ext cx="91440" cy="91440"/>
          </a:xfrm>
          <a:prstGeom prst="ellipse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346704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Заказ = уникальный InvoiceNo</a:t>
            </a:r>
            <a:endParaRPr lang="en-US" sz="1310" dirty="0"/>
          </a:p>
        </p:txBody>
      </p:sp>
      <p:sp>
        <p:nvSpPr>
          <p:cNvPr id="26" name="Shape 24"/>
          <p:cNvSpPr/>
          <p:nvPr/>
        </p:nvSpPr>
        <p:spPr>
          <a:xfrm>
            <a:off x="6501384" y="4041648"/>
            <a:ext cx="91440" cy="91440"/>
          </a:xfrm>
          <a:prstGeom prst="ellipse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922776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TotalSpent = Σ OrderTotal</a:t>
            </a:r>
            <a:endParaRPr lang="en-US" sz="1310" dirty="0"/>
          </a:p>
        </p:txBody>
      </p:sp>
      <p:sp>
        <p:nvSpPr>
          <p:cNvPr id="28" name="Shape 26"/>
          <p:cNvSpPr/>
          <p:nvPr/>
        </p:nvSpPr>
        <p:spPr>
          <a:xfrm>
            <a:off x="6501384" y="4617720"/>
            <a:ext cx="91440" cy="91440"/>
          </a:xfrm>
          <a:prstGeom prst="ellipse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498848"/>
            <a:ext cx="4626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 = TotalSpent / OrderCount</a:t>
            </a:r>
            <a:endParaRPr lang="en-US" sz="1310" dirty="0"/>
          </a:p>
        </p:txBody>
      </p:sp>
      <p:sp>
        <p:nvSpPr>
          <p:cNvPr id="30" name="Shape 28"/>
          <p:cNvSpPr/>
          <p:nvPr/>
        </p:nvSpPr>
        <p:spPr>
          <a:xfrm>
            <a:off x="749808" y="5961888"/>
            <a:ext cx="10744200" cy="320040"/>
          </a:xfrm>
          <a:prstGeom prst="roundRect">
            <a:avLst>
              <a:gd name="adj" fmla="val 28571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6007608"/>
            <a:ext cx="10195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Общий фильтр: InvoiceNo не начинается с C; Quantity &gt; 0; UnitPrice &gt; 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/  PRACTICE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0816" y="21945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694944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Топ-5 по количеству: важен контекст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1082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Рейтинг построен по положительным строкам и не вычитает последующие возвраты.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92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21208" y="656539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data.csv • Показатели валовых положительных продаж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0" y="6556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ТОВАРНЫЙ АНАЛИЗ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1810512"/>
            <a:ext cx="7498080" cy="446227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048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23843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2048256"/>
            <a:ext cx="3310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CRAFT , LITTLE BIRDIE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10512" y="2404872"/>
            <a:ext cx="4946904" cy="146304"/>
          </a:xfrm>
          <a:prstGeom prst="roundRect">
            <a:avLst>
              <a:gd name="adj" fmla="val 43750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2404872"/>
            <a:ext cx="4946904" cy="146304"/>
          </a:xfrm>
          <a:prstGeom prst="roundRect">
            <a:avLst>
              <a:gd name="adj" fmla="val 43750"/>
            </a:avLst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2185416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85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80 995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23166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10512" y="2880360"/>
            <a:ext cx="3310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CERAMIC TOP STORAGE 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10512" y="3236976"/>
            <a:ext cx="4946904" cy="146304"/>
          </a:xfrm>
          <a:prstGeom prst="roundRect">
            <a:avLst>
              <a:gd name="adj" fmla="val 43750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10512" y="3236976"/>
            <a:ext cx="4765995" cy="146304"/>
          </a:xfrm>
          <a:prstGeom prst="roundRect">
            <a:avLst>
              <a:gd name="adj" fmla="val 43750"/>
            </a:avLst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301752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78 033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" y="3712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22197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10512" y="3712464"/>
            <a:ext cx="3310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POPCORN HOLDER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10512" y="4069080"/>
            <a:ext cx="4946904" cy="146304"/>
          </a:xfrm>
          <a:prstGeom prst="roundRect">
            <a:avLst>
              <a:gd name="adj" fmla="val 43750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10512" y="4069080"/>
            <a:ext cx="3476545" cy="146304"/>
          </a:xfrm>
          <a:prstGeom prst="roundRect">
            <a:avLst>
              <a:gd name="adj" fmla="val 43750"/>
            </a:avLst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3849624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56 921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84077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10512" y="4544568"/>
            <a:ext cx="3310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WAR 2 GLIDERS ASSTD 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10512" y="4901184"/>
            <a:ext cx="4946904" cy="146304"/>
          </a:xfrm>
          <a:prstGeom prst="roundRect">
            <a:avLst>
              <a:gd name="adj" fmla="val 43750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10512" y="4901184"/>
            <a:ext cx="3362087" cy="146304"/>
          </a:xfrm>
          <a:prstGeom prst="roundRect">
            <a:avLst>
              <a:gd name="adj" fmla="val 43750"/>
            </a:avLst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46817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55 047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1248" y="5376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85099B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810512" y="5376672"/>
            <a:ext cx="3310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JUMBO BAG RED RETROSPOT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810512" y="5733288"/>
            <a:ext cx="4946904" cy="146304"/>
          </a:xfrm>
          <a:prstGeom prst="roundRect">
            <a:avLst>
              <a:gd name="adj" fmla="val 43750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10512" y="5733288"/>
            <a:ext cx="2960630" cy="146304"/>
          </a:xfrm>
          <a:prstGeom prst="roundRect">
            <a:avLst>
              <a:gd name="adj" fmla="val 43750"/>
            </a:avLst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55138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48 474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66176" y="1810512"/>
            <a:ext cx="3374136" cy="4462272"/>
          </a:xfrm>
          <a:prstGeom prst="roundRect">
            <a:avLst>
              <a:gd name="adj" fmla="val 4607"/>
            </a:avLst>
          </a:prstGeom>
          <a:solidFill>
            <a:srgbClr val="1724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58784" y="2075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E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КЕЙС 23843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77072" y="2551176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+80 995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8613648" y="3108960"/>
            <a:ext cx="2423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продано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58784" y="3547872"/>
            <a:ext cx="2770632" cy="0"/>
          </a:xfrm>
          <a:prstGeom prst="line">
            <a:avLst/>
          </a:prstGeom>
          <a:noFill/>
          <a:ln w="12700">
            <a:solidFill>
              <a:srgbClr val="516476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8577072" y="3822192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B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−80 995</a:t>
            </a:r>
            <a:endParaRPr lang="en-US" sz="2900" dirty="0"/>
          </a:p>
        </p:txBody>
      </p:sp>
      <p:sp>
        <p:nvSpPr>
          <p:cNvPr id="42" name="Text 40"/>
          <p:cNvSpPr/>
          <p:nvPr/>
        </p:nvSpPr>
        <p:spPr>
          <a:xfrm>
            <a:off x="8613648" y="441655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8D9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возвращено отдельной операцией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86216" y="5166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анализа возвратов лидер может создать ложное впечатление о спросе.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/  PRACTICE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0816" y="21945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694944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Заказы и деньги — только для известных клиентов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1082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Заказ считается по InvoiceNo, а не по количеству товарных строк.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92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21208" y="656539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data.csv • Показатели валовых положительных продаж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0" y="6556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КЛИЕНТСКАЯ АНАЛИТИКА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1856232"/>
            <a:ext cx="2660904" cy="1664208"/>
          </a:xfrm>
          <a:prstGeom prst="roundRect">
            <a:avLst>
              <a:gd name="adj" fmla="val 9341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856232"/>
            <a:ext cx="64008" cy="166420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93976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КЛИЕНТОВ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" y="2395728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4 338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8096" y="297180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Указан CustomerID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3346704" y="1856232"/>
            <a:ext cx="2651760" cy="1664208"/>
          </a:xfrm>
          <a:prstGeom prst="roundRect">
            <a:avLst>
              <a:gd name="adj" fmla="val 9341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6704" y="1856232"/>
            <a:ext cx="64008" cy="166420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2093976"/>
            <a:ext cx="2231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ЗАКАЗОВ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75304" y="23957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18 532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84448" y="29718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Уникальные InvoiceNo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163056" y="1856232"/>
            <a:ext cx="2651760" cy="1664208"/>
          </a:xfrm>
          <a:prstGeom prst="roundRect">
            <a:avLst>
              <a:gd name="adj" fmla="val 9341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1856232"/>
            <a:ext cx="64008" cy="166420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2093976"/>
            <a:ext cx="2231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SPENT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91656" y="23957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8,91 млн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0" y="29718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Денежных единиц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8979408" y="1856232"/>
            <a:ext cx="2651760" cy="1664208"/>
          </a:xfrm>
          <a:prstGeom prst="roundRect">
            <a:avLst>
              <a:gd name="adj" fmla="val 9341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79408" y="1856232"/>
            <a:ext cx="64008" cy="166420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08008" y="2093976"/>
            <a:ext cx="2231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СРЕДНИЙ ЧЕК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08008" y="23957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480,87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217152" y="29718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Сумма / число заказов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530352" y="3840480"/>
            <a:ext cx="11091672" cy="2276856"/>
          </a:xfrm>
          <a:prstGeom prst="roundRect">
            <a:avLst>
              <a:gd name="adj" fmla="val 6827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096512"/>
            <a:ext cx="5212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нельзя усреднять строки?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4535424"/>
            <a:ext cx="6949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InvoiceNo может содержать несколько товаров. Средний чек рассчитывается после суммирования строк каждого заказа.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293608" y="4197096"/>
            <a:ext cx="2944368" cy="1261872"/>
          </a:xfrm>
          <a:prstGeom prst="roundRect">
            <a:avLst>
              <a:gd name="adj" fmla="val 10870"/>
            </a:avLst>
          </a:prstGeom>
          <a:solidFill>
            <a:srgbClr val="E7F9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67928" y="445312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TotalSpent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851392" y="4828032"/>
            <a:ext cx="1783080" cy="0"/>
          </a:xfrm>
          <a:prstGeom prst="line">
            <a:avLst/>
          </a:prstGeom>
          <a:noFill/>
          <a:ln w="17780">
            <a:solidFill>
              <a:srgbClr val="067A71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8567928" y="495604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OrderCount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/  PRACTICE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0816" y="21945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694944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Частота заказов и концентрация выручки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1082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Дополнительный анализ на основе клиентской выгрузки.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92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21208" y="656539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data.csv • Показатели валовых положительных продаж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0" y="6556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ПОВЕДЕНИЕ КЛИЕНТОВ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9496" y="1856232"/>
            <a:ext cx="6912864" cy="431596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139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Клиенты по числу заказов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9536" y="2788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заказ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04288" y="2880360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4288" y="2880360"/>
            <a:ext cx="3036405" cy="201168"/>
          </a:xfrm>
          <a:prstGeom prst="roundRect">
            <a:avLst>
              <a:gd name="adj" fmla="val 36364"/>
            </a:avLst>
          </a:prstGeom>
          <a:solidFill>
            <a:srgbClr val="456C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278434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1 493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" y="35204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2–4 заказа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04288" y="3611880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04288" y="3611880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351586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1 731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" y="42519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5–9 заказов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04288" y="4343400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04288" y="4343400"/>
            <a:ext cx="1470409" cy="201168"/>
          </a:xfrm>
          <a:prstGeom prst="roundRect">
            <a:avLst>
              <a:gd name="adj" fmla="val 36364"/>
            </a:avLst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7608" y="424738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" y="49834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10+ заказов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04288" y="5074920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04288" y="5074920"/>
            <a:ext cx="795200" cy="201168"/>
          </a:xfrm>
          <a:prstGeom prst="roundRect">
            <a:avLst>
              <a:gd name="adj" fmla="val 36364"/>
            </a:avLst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497890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08392" y="1856232"/>
            <a:ext cx="3922776" cy="4315968"/>
          </a:xfrm>
          <a:prstGeom prst="roundRect">
            <a:avLst>
              <a:gd name="adj" fmla="val 3730"/>
            </a:avLst>
          </a:prstGeom>
          <a:solidFill>
            <a:srgbClr val="1724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45059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61,3%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074152" y="3291840"/>
            <a:ext cx="29443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денежного объёма дали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крупнейших клиентов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046720" y="4471416"/>
            <a:ext cx="3200400" cy="0"/>
          </a:xfrm>
          <a:prstGeom prst="line">
            <a:avLst/>
          </a:prstGeom>
          <a:noFill/>
          <a:ln w="12700">
            <a:solidFill>
              <a:srgbClr val="526578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8074152" y="4736592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9E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Граница анализа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74152" y="5074920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Метрика чувствительна к крупным операциям и возвратам.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/  PRACTICE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0816" y="21945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694944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Когда продажи были выше?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1082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Оборот положительных строк по месяцам; декабрь 2011 неполный.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92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21208" y="656539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data.csv • Показатели валовых положительных продаж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0" y="6556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ДИНАМИКА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1810512"/>
            <a:ext cx="11100816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5175504"/>
            <a:ext cx="10259568" cy="0"/>
          </a:xfrm>
          <a:prstGeom prst="line">
            <a:avLst/>
          </a:prstGeom>
          <a:noFill/>
          <a:ln w="9525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50392" y="4014216"/>
            <a:ext cx="10259568" cy="0"/>
          </a:xfrm>
          <a:prstGeom prst="line">
            <a:avLst/>
          </a:prstGeom>
          <a:noFill/>
          <a:ln w="9525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50392" y="2852928"/>
            <a:ext cx="10259568" cy="0"/>
          </a:xfrm>
          <a:prstGeom prst="line">
            <a:avLst/>
          </a:prstGeom>
          <a:noFill/>
          <a:ln w="9525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77824" y="3908053"/>
            <a:ext cx="429768" cy="1267451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701546" y="4111741"/>
            <a:ext cx="429768" cy="1063763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32966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01/11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25268" y="4369821"/>
            <a:ext cx="429768" cy="805683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6688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02/11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48990" y="4071313"/>
            <a:ext cx="429768" cy="1104191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0410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03/11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72712" y="4348009"/>
            <a:ext cx="429768" cy="827495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04132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04/11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96434" y="3989924"/>
            <a:ext cx="429768" cy="1185580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7854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05/11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20156" y="4003458"/>
            <a:ext cx="429768" cy="1172046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51576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06/11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43878" y="4068879"/>
            <a:ext cx="429768" cy="1106625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75298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07/11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67600" y="4007461"/>
            <a:ext cx="429768" cy="1168043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9020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91322" y="3546712"/>
            <a:ext cx="429768" cy="1628792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2742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09/11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115044" y="3398403"/>
            <a:ext cx="429768" cy="1777101"/>
          </a:xfrm>
          <a:prstGeom prst="roundRect">
            <a:avLst>
              <a:gd name="adj" fmla="val 8511"/>
            </a:avLst>
          </a:prstGeom>
          <a:solidFill>
            <a:srgbClr val="83BE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46464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938766" y="2852928"/>
            <a:ext cx="429768" cy="2322576"/>
          </a:xfrm>
          <a:prstGeom prst="roundRect">
            <a:avLst>
              <a:gd name="adj" fmla="val 8511"/>
            </a:avLst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0186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762488" y="4192630"/>
            <a:ext cx="429768" cy="982874"/>
          </a:xfrm>
          <a:prstGeom prst="roundRect">
            <a:avLst>
              <a:gd name="adj" fmla="val 8511"/>
            </a:avLst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93908" y="534009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961120" y="2084832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1,51 млн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970264" y="245973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ноябрь 2011 — максимум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" y="5696712"/>
            <a:ext cx="10378440" cy="347472"/>
          </a:xfrm>
          <a:prstGeom prst="roundRect">
            <a:avLst>
              <a:gd name="adj" fmla="val 26316"/>
            </a:avLst>
          </a:prstGeom>
          <a:solidFill>
            <a:srgbClr val="EA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" y="5742432"/>
            <a:ext cx="10049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Нельзя напрямую сравнивать декабрь 2011 с полными месяцами: данные заканчиваются 09.12.2011.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/  PRACTICE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0816" y="21945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694944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Кто отвечает за качество данных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1082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— общая ответственность, но этапы и артефакты у ролей разные.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92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21208" y="656539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data.csv • Показатели валовых положительных продаж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0" y="6556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РАБОТА КОМАНДЫ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1208" y="1938528"/>
            <a:ext cx="3502152" cy="4059936"/>
          </a:xfrm>
          <a:prstGeom prst="roundRect">
            <a:avLst>
              <a:gd name="adj" fmla="val 4178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1938528"/>
            <a:ext cx="3502152" cy="91440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1854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49808" y="2642616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Analyst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" y="3346704"/>
            <a:ext cx="91440" cy="91440"/>
          </a:xfrm>
          <a:prstGeom prst="ellipse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22783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Исследует источник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" y="3822192"/>
            <a:ext cx="91440" cy="91440"/>
          </a:xfrm>
          <a:prstGeom prst="ellipse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70332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Описывает аномалии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4297680"/>
            <a:ext cx="91440" cy="91440"/>
          </a:xfrm>
          <a:prstGeom prst="ellipse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17880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Задаёт правила и метрики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" y="5166360"/>
            <a:ext cx="3136392" cy="502920"/>
          </a:xfrm>
          <a:prstGeom prst="roundRect">
            <a:avLst>
              <a:gd name="adj" fmla="val 21818"/>
            </a:avLst>
          </a:prstGeom>
          <a:solidFill>
            <a:srgbClr val="F6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5266944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Profile + постановка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52544" y="1938528"/>
            <a:ext cx="3502152" cy="4059936"/>
          </a:xfrm>
          <a:prstGeom prst="roundRect">
            <a:avLst>
              <a:gd name="adj" fmla="val 4178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1938528"/>
            <a:ext cx="3502152" cy="91440"/>
          </a:xfrm>
          <a:prstGeom prst="rect">
            <a:avLst/>
          </a:prstGeom>
          <a:solidFill>
            <a:srgbClr val="456C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1144" y="21854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56C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581144" y="2642616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Engineer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636008" y="3346704"/>
            <a:ext cx="91440" cy="91440"/>
          </a:xfrm>
          <a:prstGeom prst="ellipse">
            <a:avLst/>
          </a:prstGeom>
          <a:solidFill>
            <a:srgbClr val="456C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322783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Читает CSV и валидирует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36008" y="3822192"/>
            <a:ext cx="91440" cy="91440"/>
          </a:xfrm>
          <a:prstGeom prst="ellipse">
            <a:avLst/>
          </a:prstGeom>
          <a:solidFill>
            <a:srgbClr val="456C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5464" y="370332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Очищает и агрегирует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36008" y="4297680"/>
            <a:ext cx="91440" cy="91440"/>
          </a:xfrm>
          <a:prstGeom prst="ellipse">
            <a:avLst/>
          </a:prstGeom>
          <a:solidFill>
            <a:srgbClr val="456C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417880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Формирует две выгрузки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35424" y="5166360"/>
            <a:ext cx="3136392" cy="502920"/>
          </a:xfrm>
          <a:prstGeom prst="roundRect">
            <a:avLst>
              <a:gd name="adj" fmla="val 21818"/>
            </a:avLst>
          </a:prstGeom>
          <a:solidFill>
            <a:srgbClr val="F6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5266944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 + CSV + логи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74736" y="1938528"/>
            <a:ext cx="3502152" cy="4059936"/>
          </a:xfrm>
          <a:prstGeom prst="roundRect">
            <a:avLst>
              <a:gd name="adj" fmla="val 4178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4736" y="1938528"/>
            <a:ext cx="3502152" cy="91440"/>
          </a:xfrm>
          <a:prstGeom prst="rect">
            <a:avLst/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3336" y="21854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1A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8403336" y="2642616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458200" y="3346704"/>
            <a:ext cx="91440" cy="91440"/>
          </a:xfrm>
          <a:prstGeom prst="ellipse">
            <a:avLst/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77656" y="322783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Проверяет расчёты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58200" y="3822192"/>
            <a:ext cx="91440" cy="91440"/>
          </a:xfrm>
          <a:prstGeom prst="ellipse">
            <a:avLst/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77656" y="370332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Тестирует крайние случаи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58200" y="4297680"/>
            <a:ext cx="91440" cy="91440"/>
          </a:xfrm>
          <a:prstGeom prst="ellipse">
            <a:avLst/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77656" y="4178808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Сверяет контрольные итоги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57616" y="5166360"/>
            <a:ext cx="3136392" cy="502920"/>
          </a:xfrm>
          <a:prstGeom prst="roundRect">
            <a:avLst>
              <a:gd name="adj" fmla="val 21818"/>
            </a:avLst>
          </a:prstGeom>
          <a:solidFill>
            <a:srgbClr val="F6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58200" y="5266944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Тест-кейсы + протокол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 /  PRACTICE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0816" y="21945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12064" y="694944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4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 есть. Следующий шаг — уточнить смысл.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21208" y="1316736"/>
            <a:ext cx="11082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Сильный аналитический результат — не только числа, но и границы их применимости.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6492240"/>
            <a:ext cx="11192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21208" y="656539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data.csv • Показатели валовых положительных продаж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0" y="6556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D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ВЫВОДЫ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1828800"/>
            <a:ext cx="6620256" cy="4370832"/>
          </a:xfrm>
          <a:prstGeom prst="roundRect">
            <a:avLst>
              <a:gd name="adj" fmla="val 3556"/>
            </a:avLst>
          </a:prstGeom>
          <a:solidFill>
            <a:srgbClr val="1724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221992"/>
            <a:ext cx="5312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Готово к передаче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05256" y="2944368"/>
            <a:ext cx="109728" cy="109728"/>
          </a:xfrm>
          <a:prstGeom prst="ellipse">
            <a:avLst/>
          </a:prstGeom>
          <a:solidFill>
            <a:srgbClr val="69D5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862072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Топ-5 товаров с кодами и количеством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905256" y="3538728"/>
            <a:ext cx="109728" cy="109728"/>
          </a:xfrm>
          <a:prstGeom prst="ellipse">
            <a:avLst/>
          </a:prstGeom>
          <a:solidFill>
            <a:srgbClr val="69D5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456432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Клиентские метрики по 4 338 покупателям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905256" y="4133088"/>
            <a:ext cx="109728" cy="109728"/>
          </a:xfrm>
          <a:prstGeom prst="ellipse">
            <a:avLst/>
          </a:prstGeom>
          <a:solidFill>
            <a:srgbClr val="69D5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050792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Описание правил обработки данных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905256" y="4727448"/>
            <a:ext cx="109728" cy="109728"/>
          </a:xfrm>
          <a:prstGeom prst="ellipse">
            <a:avLst/>
          </a:prstGeom>
          <a:solidFill>
            <a:srgbClr val="69D5B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645152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Контрольные значения для QA</a:t>
            </a:r>
            <a:endParaRPr lang="en-US" sz="1410" dirty="0"/>
          </a:p>
        </p:txBody>
      </p:sp>
      <p:sp>
        <p:nvSpPr>
          <p:cNvPr id="20" name="Shape 18"/>
          <p:cNvSpPr/>
          <p:nvPr/>
        </p:nvSpPr>
        <p:spPr>
          <a:xfrm>
            <a:off x="7424928" y="1828800"/>
            <a:ext cx="4197096" cy="437083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221284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 бизнес-использованием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754112" y="3090672"/>
            <a:ext cx="91440" cy="91440"/>
          </a:xfrm>
          <a:prstGeom prst="ellipse">
            <a:avLst/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2971800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Согласовать gross vs net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54112" y="3858768"/>
            <a:ext cx="91440" cy="91440"/>
          </a:xfrm>
          <a:prstGeom prst="ellipse">
            <a:avLst/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3739896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Разобрать возвраты и выбросы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54112" y="4626864"/>
            <a:ext cx="91440" cy="91440"/>
          </a:xfrm>
          <a:prstGeom prst="ellipse">
            <a:avLst/>
          </a:prstGeom>
          <a:solidFill>
            <a:srgbClr val="F1A8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73568" y="4507992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E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Уточнить охват CustomerID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3504" y="6263640"/>
            <a:ext cx="10771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7A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урок: «посчитать» ≠ «правильно интерпретировать».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Учебная аналитическая команда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Retail — аналитический обзор</dc:title>
  <dc:subject>Практическая №2: профиль качества данных, популярность товаров и клиентские показатели</dc:subject>
  <dc:creator>Business Analysis • Online Retail</dc:creator>
  <cp:lastModifiedBy>Business Analysis • Online Retail</cp:lastModifiedBy>
  <cp:revision>1</cp:revision>
  <dcterms:created xsi:type="dcterms:W3CDTF">2026-10-12T17:03:01Z</dcterms:created>
  <dcterms:modified xsi:type="dcterms:W3CDTF">2026-10-12T17:03:01Z</dcterms:modified>
</cp:coreProperties>
</file>